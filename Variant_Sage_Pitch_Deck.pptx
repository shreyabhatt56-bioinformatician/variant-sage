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8000" b="1">
                <a:solidFill>
                  <a:srgbClr val="FFFFFF"/>
                </a:solidFill>
              </a:defRPr>
            </a:pPr>
            <a:r>
              <a:t>Variant Sage</a:t>
            </a:r>
          </a:p>
          <a:p>
            <a:pPr>
              <a:defRPr sz="3600">
                <a:solidFill>
                  <a:srgbClr val="0D9488"/>
                </a:solidFill>
              </a:defRPr>
            </a:pPr>
            <a:r>
              <a:t>AI-Powered Clinical Genomics Platform</a:t>
            </a:r>
          </a:p>
          <a:p>
            <a:pPr>
              <a:spcBef>
                <a:spcPts val="4000"/>
              </a:spcBef>
              <a:defRPr sz="2000">
                <a:solidFill>
                  <a:srgbClr val="64748B"/>
                </a:solidFill>
              </a:defRPr>
            </a:pPr>
            <a:r>
              <a:t>Prepared by MolSys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0F172A"/>
                </a:solidFill>
              </a:defRPr>
            </a:pPr>
            <a:r>
              <a:t>The Bottleneck in Modern Genomics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32004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2800" b="1">
                <a:solidFill>
                  <a:srgbClr val="2563EB"/>
                </a:solidFill>
              </a:defRPr>
            </a:pPr>
            <a:r>
              <a:t>Data Avalanche</a:t>
            </a:r>
          </a:p>
          <a:p>
            <a:pPr>
              <a:spcBef>
                <a:spcPts val="2000"/>
              </a:spcBef>
              <a:defRPr sz="2000">
                <a:solidFill>
                  <a:srgbClr val="64748B"/>
                </a:solidFill>
              </a:defRPr>
            </a:pPr>
            <a:r>
              <a:t>Next-Gen Sequencing (NGS) produces massive VCF files with millions of variants. Filtering them is a manual, error-prone nightmare.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828800"/>
            <a:ext cx="32004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2800" b="1">
                <a:solidFill>
                  <a:srgbClr val="2563EB"/>
                </a:solidFill>
              </a:defRPr>
            </a:pPr>
            <a:r>
              <a:t>Counselor Shortage</a:t>
            </a:r>
          </a:p>
          <a:p>
            <a:pPr>
              <a:spcBef>
                <a:spcPts val="2000"/>
              </a:spcBef>
              <a:defRPr sz="2000">
                <a:solidFill>
                  <a:srgbClr val="64748B"/>
                </a:solidFill>
              </a:defRPr>
            </a:pPr>
            <a:r>
              <a:t>Highly trained Genetic Counselors spend hours on literature review for a single patient. There are simply not enough experts.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828800"/>
            <a:ext cx="32004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2800" b="1">
                <a:solidFill>
                  <a:srgbClr val="2563EB"/>
                </a:solidFill>
              </a:defRPr>
            </a:pPr>
            <a:r>
              <a:t>Slow Turnaround</a:t>
            </a:r>
          </a:p>
          <a:p>
            <a:pPr>
              <a:spcBef>
                <a:spcPts val="2000"/>
              </a:spcBef>
              <a:defRPr sz="2000">
                <a:solidFill>
                  <a:srgbClr val="64748B"/>
                </a:solidFill>
              </a:defRPr>
            </a:pPr>
            <a:r>
              <a:t>Patients wait weeks for critical oncology or rare-disease reports. In clinical settings, time is literally life.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FFFFFF"/>
                </a:solidFill>
              </a:defRPr>
            </a:pPr>
            <a:r>
              <a:t>The Solution: Variant 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>
                <a:solidFill>
                  <a:srgbClr val="0D9488"/>
                </a:solidFill>
              </a:defRPr>
            </a:pPr>
            <a:r>
              <a:t>An Agentic AI workflow that automates the heavy lifting of variant interpretation.</a:t>
            </a:r>
          </a:p>
          <a:p>
            <a:pPr>
              <a:spcBef>
                <a:spcPts val="1500"/>
              </a:spcBef>
              <a:defRPr sz="2400">
                <a:solidFill>
                  <a:srgbClr val="FFFFFF"/>
                </a:solidFill>
              </a:defRPr>
            </a:pPr>
            <a:r>
              <a:t>• Automated ACMG Classification: AI agents debate and classify variants (Pathogenic to Benign).</a:t>
            </a:r>
          </a:p>
          <a:p>
            <a:pPr>
              <a:spcBef>
                <a:spcPts val="1500"/>
              </a:spcBef>
              <a:defRPr sz="2400">
                <a:solidFill>
                  <a:srgbClr val="FFFFFF"/>
                </a:solidFill>
              </a:defRPr>
            </a:pPr>
            <a:r>
              <a:t>• Deep Literature Search: Instantly cross-references PubMed, ClinVar, and OMIM.</a:t>
            </a:r>
          </a:p>
          <a:p>
            <a:pPr>
              <a:spcBef>
                <a:spcPts val="1500"/>
              </a:spcBef>
              <a:defRPr sz="2400">
                <a:solidFill>
                  <a:srgbClr val="FFFFFF"/>
                </a:solidFill>
              </a:defRPr>
            </a:pPr>
            <a:r>
              <a:t>• Human-in-the-Loop: AI drafts the report, Genetic Counselors review and approve.</a:t>
            </a:r>
          </a:p>
          <a:p>
            <a:pPr>
              <a:spcBef>
                <a:spcPts val="1500"/>
              </a:spcBef>
              <a:defRPr sz="2400">
                <a:solidFill>
                  <a:srgbClr val="FFFFFF"/>
                </a:solidFill>
              </a:defRPr>
            </a:pPr>
            <a:r>
              <a:t>• Phenotype Mapping: Automatically matches patient HPO terms to variant databases.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0F172A"/>
                </a:solidFill>
              </a:defRPr>
            </a:pPr>
            <a:r>
              <a:t>Go-to-Market: The MENA Bundle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286000"/>
            <a:ext cx="3657600" cy="2743200"/>
          </a:xfrm>
          <a:prstGeom prst="rect">
            <a:avLst/>
          </a:prstGeom>
          <a:solidFill>
            <a:srgbClr val="0D94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/>
            </a:pPr>
            <a:r>
              <a:t>Sequencing Hardware</a:t>
            </a:r>
          </a:p>
          <a:p>
            <a:r>
              <a:t>(Partner/White-label)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3200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/>
            </a:pPr>
            <a:r>
              <a:t>+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2286000"/>
            <a:ext cx="3657600" cy="27432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/>
            </a:pPr>
            <a:r>
              <a:t>Variant Sage Software</a:t>
            </a:r>
          </a:p>
          <a:p>
            <a:r>
              <a:t>(AI Brain)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64748B"/>
                </a:solidFill>
              </a:defRPr>
            </a:pPr>
            <a:r>
              <a:t>Pitching a turnkey, integrated solution to hospitals rather than standalone software.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0F172A"/>
                </a:solidFill>
              </a:defRPr>
            </a:pPr>
            <a:r>
              <a:t>End-to-End Hospital Workflow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2286000"/>
            <a:ext cx="1371600" cy="1371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4000" b="1"/>
            </a:pPr>
            <a: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26080" y="2743200"/>
            <a:ext cx="548640" cy="4572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1148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Doctor</a:t>
            </a:r>
          </a:p>
          <a:p>
            <a:pPr algn="ctr">
              <a:defRPr sz="1600">
                <a:solidFill>
                  <a:srgbClr val="64748B"/>
                </a:solidFill>
              </a:defRPr>
            </a:pPr>
            <a:r>
              <a:t>Submits patient clinical history &amp; HPO terms</a:t>
            </a:r>
          </a:p>
        </p:txBody>
      </p:sp>
      <p:sp>
        <p:nvSpPr>
          <p:cNvPr id="7" name="Oval 6"/>
          <p:cNvSpPr/>
          <p:nvPr/>
        </p:nvSpPr>
        <p:spPr>
          <a:xfrm>
            <a:off x="4114800" y="2286000"/>
            <a:ext cx="1371600" cy="1371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4000" b="1"/>
            </a:pPr>
            <a: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669280" y="2743200"/>
            <a:ext cx="548640" cy="4572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41148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Lab</a:t>
            </a:r>
          </a:p>
          <a:p>
            <a:pPr algn="ctr">
              <a:defRPr sz="1600">
                <a:solidFill>
                  <a:srgbClr val="64748B"/>
                </a:solidFill>
              </a:defRPr>
            </a:pPr>
            <a:r>
              <a:t>Uploads VCF from sequencer</a:t>
            </a:r>
          </a:p>
        </p:txBody>
      </p:sp>
      <p:sp>
        <p:nvSpPr>
          <p:cNvPr id="10" name="Oval 9"/>
          <p:cNvSpPr/>
          <p:nvPr/>
        </p:nvSpPr>
        <p:spPr>
          <a:xfrm>
            <a:off x="6858000" y="2286000"/>
            <a:ext cx="1371600" cy="1371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4000" b="1"/>
            </a:pPr>
            <a:r>
              <a:t>3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412480" y="2743200"/>
            <a:ext cx="548640" cy="4572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1148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AI Pipeline</a:t>
            </a:r>
          </a:p>
          <a:p>
            <a:pPr algn="ctr">
              <a:defRPr sz="1600">
                <a:solidFill>
                  <a:srgbClr val="64748B"/>
                </a:solidFill>
              </a:defRPr>
            </a:pPr>
            <a:r>
              <a:t>Variant Sage parses, filters, and classifies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0" y="2286000"/>
            <a:ext cx="1371600" cy="1371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4000" b="1"/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41148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Counselor</a:t>
            </a:r>
          </a:p>
          <a:p>
            <a:pPr algn="ctr">
              <a:defRPr sz="1600">
                <a:solidFill>
                  <a:srgbClr val="64748B"/>
                </a:solidFill>
              </a:defRPr>
            </a:pPr>
            <a:r>
              <a:t>Reviews AI evidence &amp; approves final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0F172A"/>
                </a:solidFill>
              </a:defRPr>
            </a:pPr>
            <a:r>
              <a:t>Why Variant Sage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3200400" cy="3200400"/>
          </a:xfrm>
          <a:prstGeom prst="rect">
            <a:avLst/>
          </a:prstGeom>
          <a:solidFill>
            <a:srgbClr val="0D94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8000" b="1"/>
            </a:pPr>
            <a:r>
              <a:t>94%</a:t>
            </a:r>
          </a:p>
          <a:p>
            <a:pPr algn="ctr">
              <a:defRPr sz="2000"/>
            </a:pPr>
            <a:r>
              <a:t>Zero-Shot AI Success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2286000"/>
            <a:ext cx="3200400" cy="32004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8000" b="1"/>
            </a:pPr>
            <a:r>
              <a:t>10x</a:t>
            </a:r>
          </a:p>
          <a:p>
            <a:pPr algn="ctr">
              <a:defRPr sz="2000"/>
            </a:pPr>
            <a:r>
              <a:t>Faster Turnaround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0" y="2286000"/>
            <a:ext cx="3200400" cy="32004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8000" b="1"/>
            </a:pPr>
            <a:r>
              <a:t>-40%</a:t>
            </a:r>
          </a:p>
          <a:p>
            <a:pPr algn="ctr">
              <a:defRPr sz="2000"/>
            </a:pPr>
            <a:r>
              <a:t>Reduction in VUS variants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